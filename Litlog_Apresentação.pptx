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D2DDF-B299-4BAA-B50C-A778F2AAFDC1}" v="5" dt="2026-03-22T20:54:46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Felipe Fernandes Cruz" userId="e901a1a1-285a-4139-b501-201f31059c05" providerId="ADAL" clId="{E83C17C8-2DA1-469D-B668-5CDD7910FA4F}"/>
    <pc:docChg chg="undo custSel modSld">
      <pc:chgData name="Marcus Felipe Fernandes Cruz" userId="e901a1a1-285a-4139-b501-201f31059c05" providerId="ADAL" clId="{E83C17C8-2DA1-469D-B668-5CDD7910FA4F}" dt="2026-03-22T20:53:29.863" v="139" actId="12"/>
      <pc:docMkLst>
        <pc:docMk/>
      </pc:docMkLst>
      <pc:sldChg chg="modSp mod">
        <pc:chgData name="Marcus Felipe Fernandes Cruz" userId="e901a1a1-285a-4139-b501-201f31059c05" providerId="ADAL" clId="{E83C17C8-2DA1-469D-B668-5CDD7910FA4F}" dt="2026-03-22T20:53:29.863" v="139" actId="12"/>
        <pc:sldMkLst>
          <pc:docMk/>
          <pc:sldMk cId="0" sldId="262"/>
        </pc:sldMkLst>
        <pc:spChg chg="mod">
          <ac:chgData name="Marcus Felipe Fernandes Cruz" userId="e901a1a1-285a-4139-b501-201f31059c05" providerId="ADAL" clId="{E83C17C8-2DA1-469D-B668-5CDD7910FA4F}" dt="2026-03-22T20:53:29.863" v="139" actId="12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4" r="45402"/>
          <a:stretch>
            <a:fillRect/>
          </a:stretch>
        </p:blipFill>
        <p:spPr>
          <a:xfrm>
            <a:off x="734932" y="470286"/>
            <a:ext cx="5996068" cy="61650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327900" y="5969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Litlog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27900" y="20447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Plataforma social para leitores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277100" y="53467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Aplicação Web • 2026.1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315200" y="4711700"/>
            <a:ext cx="4136737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Carlos Eduardo Ribeiro da Silva</a:t>
            </a:r>
            <a:b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Gabriel Clemente Ribeiro</a:t>
            </a:r>
            <a:b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Gustavo Lima Soares</a:t>
            </a:r>
            <a:b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Iago Oliveira Garcia</a:t>
            </a:r>
            <a:b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Marcus Felipe Fernandes Cruz</a:t>
            </a:r>
            <a:b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>
                <a:solidFill>
                  <a:srgbClr val="1E3A5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Priscilla Goulart Vassallo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5715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Hoje, quase todo entretenimento tem sua comunidade (Letterboxd para filmes, MyAnimeList para animes).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Para livros, falta um espaço com </a:t>
            </a:r>
            <a:r>
              <a:rPr lang="en-US" sz="1800" b="1" i="0" u="none" strike="noStrike">
                <a:solidFill>
                  <a:srgbClr val="7CCFD1"/>
                </a:solidFill>
                <a:latin typeface="Poppins"/>
                <a:ea typeface="Poppins"/>
                <a:cs typeface="Poppins"/>
                <a:sym typeface="Poppins"/>
              </a:rPr>
              <a:t>alcance e engajamento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similar.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 Litlog nasce para unir organização de leituras, opiniões rápidas e descoberta social em uma plataforma moderna e intuitiva.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0130" r="2132"/>
          <a:stretch>
            <a:fillRect/>
          </a:stretch>
        </p:blipFill>
        <p:spPr>
          <a:xfrm>
            <a:off x="6577187" y="1651000"/>
            <a:ext cx="5394576" cy="444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6350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  <a:defRPr/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 falta de uma plataforma centralizada reduz a conexão entre leitores e a visibilidade cultural desse hobby.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Leitores ávidos e casuais não encontram ferramentas adequadas para registro e socialização.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As ferramentas atuais não suprem a demanda pois falham em usabilidade, instabilidade e tem inconsistencias de dados.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3720"/>
          <a:stretch>
            <a:fillRect/>
          </a:stretch>
        </p:blipFill>
        <p:spPr>
          <a:xfrm>
            <a:off x="6985000" y="1524000"/>
            <a:ext cx="5207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905" r="35963"/>
          <a:stretch>
            <a:fillRect/>
          </a:stretch>
        </p:blipFill>
        <p:spPr>
          <a:xfrm>
            <a:off x="271736" y="1905000"/>
            <a:ext cx="4241203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461000" y="1905000"/>
            <a:ext cx="6096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Conectar leitores: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Incentivar o hobby através de indicações e resenhas.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Organização: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Registrar leituras (Lido/Lendo ou Quero Ler) e manter histórico pessoal.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Interação Social: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Avaliações, comentários e reações.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Descoberta: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Recomendações personalizadas e filtros, como de gênero e popularidade.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Justificativa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6096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Lacuna de Mercado: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Não existe uma rede social de livros com relevância, dinamismo e engajamento comparável a cinema ou jogos.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Demanda Real: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Entrevistas indicam que leitores desejam registrar, organizar, avaliar e interagir em um só lugar.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Importância Cultural: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Valorização do hábito de ler e fomento a comunidades colaborativas.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185"/>
          <a:stretch>
            <a:fillRect/>
          </a:stretch>
        </p:blipFill>
        <p:spPr>
          <a:xfrm>
            <a:off x="7067160" y="1219973"/>
            <a:ext cx="4418055" cy="44180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Público-alvo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5715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Leitores que buscam avaliações e troca de opiniões sobre livros.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Público Principal: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Jovens adultos (18 a 35 anos).</a:t>
            </a:r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7CCFD1"/>
                </a:solidFill>
                <a:latin typeface="Poppins"/>
                <a:ea typeface="Poppins"/>
                <a:cs typeface="Poppins"/>
                <a:sym typeface="Poppins"/>
              </a:rPr>
              <a:t>Classificação: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A partir de 12 anos.</a:t>
            </a:r>
          </a:p>
          <a:p>
            <a:pPr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Perfil Digital: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Familiarizados com redes sociais e plataformas de conteúdo online.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5549"/>
          <a:stretch>
            <a:fillRect/>
          </a:stretch>
        </p:blipFill>
        <p:spPr>
          <a:xfrm>
            <a:off x="6506349" y="1497187"/>
            <a:ext cx="5132752" cy="444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Perfis de Usuários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43712"/>
          <a:stretch>
            <a:fillRect/>
          </a:stretch>
        </p:blipFill>
        <p:spPr>
          <a:xfrm>
            <a:off x="714717" y="1792204"/>
            <a:ext cx="384232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461000" y="1651000"/>
            <a:ext cx="609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lnSpc>
                <a:spcPct val="125000"/>
              </a:lnSpc>
              <a:buClr>
                <a:srgbClr val="F2B24B"/>
              </a:buClr>
              <a:buFont typeface="Arial" panose="020B0604020202020204" pitchFamily="34" charset="0"/>
              <a:buChar char="•"/>
              <a:defRPr/>
            </a:pPr>
            <a:r>
              <a:rPr lang="en-US" sz="1800" b="1" i="0" u="none" strike="noStrike" dirty="0" err="1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Perfil</a:t>
            </a:r>
            <a:r>
              <a:rPr lang="en-US" sz="1800" b="1" i="0" u="none" strike="noStrike" dirty="0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 01: </a:t>
            </a:r>
            <a:r>
              <a:rPr lang="en-US" sz="1800" b="1" i="0" u="none" strike="noStrike" dirty="0" err="1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Leitor</a:t>
            </a:r>
            <a:b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Interessado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descobrir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títulos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organizar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leituras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consultar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avaliações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n-US" sz="1100" dirty="0"/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800" b="1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Necessidades</a:t>
            </a:r>
            <a:r>
              <a:rPr lang="en-US" sz="1800" b="1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registrar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leituras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publicar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resenhas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     breves,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criar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listas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acompanhar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amigos.</a:t>
            </a:r>
          </a:p>
          <a:p>
            <a:pPr marL="285750" indent="-285750" algn="l">
              <a:lnSpc>
                <a:spcPct val="125000"/>
              </a:lnSpc>
              <a:buClr>
                <a:srgbClr val="7CCFD1"/>
              </a:buClr>
              <a:buFont typeface="Arial" panose="020B0604020202020204" pitchFamily="34" charset="0"/>
              <a:buChar char="•"/>
            </a:pPr>
            <a:r>
              <a:rPr lang="en-US" sz="1800" b="1" i="0" u="none" strike="noStrike" dirty="0" err="1">
                <a:solidFill>
                  <a:srgbClr val="7CCFD1"/>
                </a:solidFill>
                <a:latin typeface="Poppins"/>
                <a:ea typeface="Poppins"/>
                <a:cs typeface="Poppins"/>
                <a:sym typeface="Poppins"/>
              </a:rPr>
              <a:t>Perfil</a:t>
            </a:r>
            <a:r>
              <a:rPr lang="en-US" sz="1800" b="1" i="0" u="none" strike="noStrike" dirty="0">
                <a:solidFill>
                  <a:srgbClr val="7CCFD1"/>
                </a:solidFill>
                <a:latin typeface="Poppins"/>
                <a:ea typeface="Poppins"/>
                <a:cs typeface="Poppins"/>
                <a:sym typeface="Poppins"/>
              </a:rPr>
              <a:t> 02: </a:t>
            </a:r>
            <a:r>
              <a:rPr lang="en-US" sz="1800" b="1" i="0" u="none" strike="noStrike" dirty="0" err="1">
                <a:solidFill>
                  <a:srgbClr val="7CCFD1"/>
                </a:solidFill>
                <a:latin typeface="Poppins"/>
                <a:ea typeface="Poppins"/>
                <a:cs typeface="Poppins"/>
                <a:sym typeface="Poppins"/>
              </a:rPr>
              <a:t>Administrador</a:t>
            </a:r>
            <a:b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Acesso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especial,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moderador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e promoter.</a:t>
            </a:r>
          </a:p>
          <a:p>
            <a:pPr marL="285750" indent="-285750" algn="l">
              <a:lnSpc>
                <a:spcPct val="125000"/>
              </a:lnSpc>
              <a:buClr>
                <a:srgbClr val="7CCFD1"/>
              </a:buClr>
              <a:buFont typeface="Arial" panose="020B0604020202020204" pitchFamily="34" charset="0"/>
              <a:buChar char="•"/>
            </a:pPr>
            <a:r>
              <a:rPr lang="en-US" sz="1800" b="1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Necessidades</a:t>
            </a:r>
            <a:r>
              <a:rPr lang="en-US" sz="1800" b="1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moderar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conteúdo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publicar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parcerias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destacar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livros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página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0" i="0" u="none" strike="noStrike" dirty="0" err="1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inicial</a:t>
            </a:r>
            <a:r>
              <a:rPr lang="en-US" sz="1800" b="0" i="0" u="none" strike="noStrike" dirty="0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Requisitos Funcionais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8604"/>
          <a:stretch>
            <a:fillRect/>
          </a:stretch>
        </p:blipFill>
        <p:spPr>
          <a:xfrm>
            <a:off x="7299310" y="1792204"/>
            <a:ext cx="4191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1651000"/>
            <a:ext cx="635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RF-01 a 03 (Alta):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Registrar leituras (lendo/lido/quero ler), busca global e histórico de leituras.</a:t>
            </a:r>
            <a:endParaRPr lang="en-US" sz="1100"/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RF-04 a 06 (Alta):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Populares da semana, feed de seguidos e registro rápido de status.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RF-07 a 08 (Alta):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Filtros por temas e recomendações personalizadas.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RF-09 a 10 (Alta):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Perfil local e avaliação de livros com notas/comentários.</a:t>
            </a:r>
          </a:p>
          <a:p>
            <a:pPr marL="203200" indent="-203200" algn="l">
              <a:lnSpc>
                <a:spcPct val="100000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RF-11 a 12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(Alta)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: Login/Cadastro e Denúncias.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RF-13 a 15 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(Média): Seguir usuários, Listas customizadas e Lista de desejos.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RF-16 a 18 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(Média): Marcar livros, Reagir a avaliações, Criar listas temáticas.</a:t>
            </a:r>
          </a:p>
          <a:p>
            <a:pPr marL="203200" indent="-203200" algn="l">
              <a:lnSpc>
                <a:spcPct val="100000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RF-19 a 20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(Média): Notificações e Busca avançada (autor/gênero).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RF-21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(Baixa): Sugestões por usuários semelhantes.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RF-22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(Baixa): Compartilhamento em redes sociais.</a:t>
            </a:r>
          </a:p>
          <a:p>
            <a:pPr marL="203200" indent="-2032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6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RF-23</a:t>
            </a:r>
            <a:r>
              <a:rPr lang="en-US" sz="16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(Baixa): Aba "Comunidade" para tópicos.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Requisitos Não Funcionais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8604"/>
          <a:stretch>
            <a:fillRect/>
          </a:stretch>
        </p:blipFill>
        <p:spPr>
          <a:xfrm>
            <a:off x="7668461" y="1863983"/>
            <a:ext cx="4191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1651000"/>
            <a:ext cx="6350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Disponibilidade: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24 horas por dia. (Alta)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Acessibilidade: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Compatível com leitores de tela e alto contraste; Web acessível. (Alta)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Usabilidade: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Intuitiva e moderna. (Alta)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Responsividade: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3 break-points. (Média)</a:t>
            </a:r>
          </a:p>
          <a:p>
            <a:pPr marL="228600" indent="-228600" algn="l">
              <a:lnSpc>
                <a:spcPct val="116666"/>
              </a:lnSpc>
              <a:buClr>
                <a:srgbClr val="1E3A5F"/>
              </a:buClr>
              <a:buChar char="•"/>
            </a:pPr>
            <a:r>
              <a:rPr lang="en-US" sz="18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Compatibilidade:</a:t>
            </a:r>
            <a:r>
              <a:rPr lang="en-US" sz="18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Chrome, Firefox, Edge. (Média)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4200" b="1" i="0" u="none" strike="noStrike">
                <a:solidFill>
                  <a:srgbClr val="F2B24B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10922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177800" indent="-177800" algn="l">
              <a:lnSpc>
                <a:spcPct val="125000"/>
              </a:lnSpc>
              <a:buClr>
                <a:srgbClr val="1E3A5F"/>
              </a:buClr>
              <a:buChar char="•"/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MYANIMELIST.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b="0" i="1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MyAnimeList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. Disponível em: https://myanimelist.net/. Acesso em: 03 mar. 2026.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1E3A5F"/>
              </a:buClr>
              <a:buChar char="•"/>
            </a:pPr>
            <a:r>
              <a:rPr lang="en-US" sz="14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INSTITUTO PRÓ-LIVRO.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b="0" i="1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Retratos da leitura no Brasil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: 6. ed. São Paulo: Instituto Pró-Livro, 2024. Disponível em: https://fundacaoitau.org.br/observatorio/biblioteca/retratos-da-leitura-no-brasil-6-edicao. Acesso em: 03 mar. 2026.</a:t>
            </a:r>
          </a:p>
          <a:p>
            <a:pPr marL="177800" indent="-177800" algn="l">
              <a:lnSpc>
                <a:spcPct val="125000"/>
              </a:lnSpc>
              <a:buClr>
                <a:srgbClr val="1E3A5F"/>
              </a:buClr>
              <a:buChar char="•"/>
            </a:pPr>
            <a:r>
              <a:rPr lang="en-US" sz="14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EXAME.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b="0" i="1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O que é BookTok, fenômeno do TikTok que incentiva a leitura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. Fernando Olivieri. Publicado em 24 jun. 2024. Disponível em: https://exame.com/pop/o-que-e-booktok-fenomeno-do-tiktok-que-incentiva-a-leitura/. Acesso em: 03 mar. 2026.</a:t>
            </a:r>
          </a:p>
          <a:p>
            <a:pPr marL="177800" indent="-177800" algn="l">
              <a:lnSpc>
                <a:spcPct val="125000"/>
              </a:lnSpc>
              <a:buClr>
                <a:srgbClr val="1E3A5F"/>
              </a:buClr>
              <a:buChar char="•"/>
            </a:pPr>
            <a:r>
              <a:rPr lang="en-US" sz="1400" b="1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JUDIJANTO, Loso; HAKIM, Lukmanul; UTAMI, Wiwik Surya; ADIAZMIL, Aan.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b="0" i="1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The Impact of the BookTok Phenomenon on the Transformation of Generation Z’s Reading Habits in the Digital Age in Indonesia</a:t>
            </a:r>
            <a:r>
              <a:rPr lang="en-US" sz="1400" b="0" i="0" u="none" strike="noStrike">
                <a:solidFill>
                  <a:srgbClr val="1E3A5F"/>
                </a:solidFill>
                <a:latin typeface="Poppins"/>
                <a:ea typeface="Poppins"/>
                <a:cs typeface="Poppins"/>
                <a:sym typeface="Poppins"/>
              </a:rPr>
              <a:t>. The Eastasouth Journal of Social Science and Humanities. Disponível em: https://esj.eastasouth-institute.com/index.php/esssh/article/view/473. Acesso em: 03 mar.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95dd898-5746-4d7e-85ec-957bdf9c6d42}" enabled="0" method="" siteId="{d95dd898-5746-4d7e-85ec-957bdf9c6d4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Microsoft Office PowerPoint</Application>
  <PresentationFormat>Widescreen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Poppins</vt:lpstr>
      <vt:lpstr>Office 主题​​</vt:lpstr>
      <vt:lpstr>默认主题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Marcus Felipe Fernandes Cruz</dc:creator>
  <cp:lastModifiedBy>Marcus Felipe Fernandes Cruz</cp:lastModifiedBy>
  <cp:revision>1</cp:revision>
  <dcterms:modified xsi:type="dcterms:W3CDTF">2026-03-22T20:54:49Z</dcterms:modified>
</cp:coreProperties>
</file>